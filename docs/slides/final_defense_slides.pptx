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005840"/>
            <a:ext cx="7315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F3D3E"/>
                </a:solidFill>
                <a:latin typeface="Microsoft YaHei"/>
              </a:defRPr>
            </a:pPr>
            <a:r>
              <a:t>基于三维变焦重建与深度学习的多材料表面缺陷检测技术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84831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76B87"/>
                </a:solidFill>
                <a:latin typeface="Microsoft YaHei"/>
              </a:defRPr>
            </a:pPr>
            <a:r>
              <a:t>结题答辩 · DFF 三维重建 + 眩光感知仿真 + 深度模型校正验证</a:t>
            </a:r>
          </a:p>
        </p:txBody>
      </p:sp>
      <p:pic>
        <p:nvPicPr>
          <p:cNvPr id="4" name="Picture 3" descr="11_3d_surfac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621792"/>
            <a:ext cx="3977639" cy="1920240"/>
          </a:xfrm>
          <a:prstGeom prst="rect">
            <a:avLst/>
          </a:prstGeom>
        </p:spPr>
      </p:pic>
      <p:pic>
        <p:nvPicPr>
          <p:cNvPr id="5" name="Picture 4" descr="final_test_metric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88920"/>
            <a:ext cx="5212080" cy="2240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440680"/>
            <a:ext cx="114300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最终版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541324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A2E"/>
                </a:solidFill>
                <a:latin typeface="Microsoft YaHei"/>
              </a:defRPr>
            </a:pPr>
            <a:r>
              <a:t>核心口径：真实样品完成相对三维重建；深度学习结果限定为仿真域路线验证。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1. 中期路线如何落到结题成果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从采集原型和 DFF 重建出发，收束到可验证的抗眩光算法闭环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32588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中期目标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49047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E2A2E"/>
                </a:solidFill>
                <a:latin typeface="Microsoft YaHei"/>
              </a:defRPr>
            </a:pPr>
            <a:r>
              <a:t>变焦显微焦距堆栈 → DFF 三维重建 → 缺陷检测接口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32588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阶段发现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63347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E2A2E"/>
                </a:solidFill>
                <a:latin typeface="Microsoft YaHei"/>
              </a:defRPr>
            </a:pPr>
            <a:r>
              <a:t>SG 空间滤波略有改善，但眩光/杂散光会主导聚焦误判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32588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结题收束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77647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2A2E"/>
                </a:solidFill>
                <a:latin typeface="Microsoft YaHei"/>
              </a:defRPr>
            </a:pPr>
            <a:r>
              <a:t>真实数据做 DFF 可视化；仿真数据做监督训练验证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2. 真实样品：DFF 三维重建主线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4 组真实焦距堆栈支撑项目基本完成度</a:t>
            </a:r>
          </a:p>
        </p:txBody>
      </p:sp>
      <p:pic>
        <p:nvPicPr>
          <p:cNvPr id="4" name="Picture 3" descr="resul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94960" cy="4251960"/>
          </a:xfrm>
          <a:prstGeom prst="rect">
            <a:avLst/>
          </a:prstGeom>
        </p:spPr>
      </p:pic>
      <p:pic>
        <p:nvPicPr>
          <p:cNvPr id="5" name="Picture 4" descr="resul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34440"/>
            <a:ext cx="53949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461E"/>
                </a:solidFill>
                <a:latin typeface="Microsoft YaHei"/>
              </a:defRPr>
            </a:pPr>
            <a:r>
              <a:t>真实结果按相对高度解释，不写绝对测量精度。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3. 主要问题：眩光导致 DFF 聚焦误判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同轴光照和高反射材料会抬高错误焦平面的清晰度响应</a:t>
            </a:r>
          </a:p>
        </p:txBody>
      </p:sp>
      <p:pic>
        <p:nvPicPr>
          <p:cNvPr id="4" name="Picture 3" descr="03_glare_stray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3017520" cy="2743200"/>
          </a:xfrm>
          <a:prstGeom prst="rect">
            <a:avLst/>
          </a:prstGeom>
        </p:spPr>
      </p:pic>
      <p:pic>
        <p:nvPicPr>
          <p:cNvPr id="5" name="Picture 4" descr="10_dff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25880"/>
            <a:ext cx="3017520" cy="2743200"/>
          </a:xfrm>
          <a:prstGeom prst="rect">
            <a:avLst/>
          </a:prstGeom>
        </p:spPr>
      </p:pic>
      <p:pic>
        <p:nvPicPr>
          <p:cNvPr id="6" name="Picture 5" descr="09_patch_finetuned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325880"/>
            <a:ext cx="3017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6177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A2E"/>
                </a:solidFill>
                <a:latin typeface="Microsoft YaHei"/>
              </a:defRPr>
            </a:pPr>
            <a:r>
              <a:t>从左到右：眩光/杂散光风险、传统 DFF 误差、模型校正误差。结题阶段把它作为主要光学噪声机理。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4. 样品生成器：补齐多类型验证样本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基线结构 + 表面噪声 + 同轴眩光/杂散光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山峰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山脊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阶跃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4173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周期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V 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 型刃脊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103120"/>
            <a:ext cx="1234440" cy="329184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凹坑/划痕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A2E"/>
                </a:solidFill>
                <a:latin typeface="Microsoft YaHei"/>
              </a:defRPr>
            </a:pPr>
            <a:r>
              <a:t>噪声类型：柏林噪声、分形噪声、条纹噪声、平滑噪声。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A2E"/>
                </a:solidFill>
                <a:latin typeface="Microsoft YaHei"/>
              </a:defRPr>
            </a:pPr>
            <a:r>
              <a:t>最终固定 P10：宽谷、粗糙平底、强柏林噪声，适合作为答辩中的困难代表样品。</a:t>
            </a:r>
          </a:p>
        </p:txBody>
      </p:sp>
      <p:pic>
        <p:nvPicPr>
          <p:cNvPr id="13" name="Picture 12" descr="11_3d_surfac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4846320" cy="2057400"/>
          </a:xfrm>
          <a:prstGeom prst="rect">
            <a:avLst/>
          </a:prstGeom>
        </p:spPr>
      </p:pic>
      <p:pic>
        <p:nvPicPr>
          <p:cNvPr id="14" name="Picture 13" descr="11_3d_surfac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611880"/>
            <a:ext cx="484632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5. 数据集划分与训练设置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训练集、验证集、测试集隔离，全部采用 17 层焦栈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3D3E"/>
                </a:solidFill>
                <a:latin typeface="Microsoft YaHei"/>
              </a:defRPr>
            </a:pPr>
            <a:r>
              <a:t>训练集 12 个样品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3D3E"/>
                </a:solidFill>
                <a:latin typeface="Microsoft YaHei"/>
              </a:defRPr>
            </a:pPr>
            <a:r>
              <a:t>验证集 5 个样品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3D3E"/>
                </a:solidFill>
                <a:latin typeface="Microsoft YaHei"/>
              </a:defRPr>
            </a:pPr>
            <a:r>
              <a:t>测试集 7 个样品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A2E"/>
                </a:solidFill>
                <a:latin typeface="Microsoft YaHei"/>
              </a:defRPr>
            </a:pPr>
            <a:r>
              <a:t>模型输入：17 层焦栈 + 眩光风险 + DFF/GADFF + 置信度。损失函数：SmoothL1 + 边缘保持项。</a:t>
            </a:r>
          </a:p>
        </p:txBody>
      </p:sp>
      <p:pic>
        <p:nvPicPr>
          <p:cNvPr id="8" name="Picture 7" descr="final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3949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6. 最终测试集结果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模型在复杂纹理和眩光样品上明显改善，但不是所有几何都稳定提升</a:t>
            </a:r>
          </a:p>
        </p:txBody>
      </p:sp>
      <p:pic>
        <p:nvPicPr>
          <p:cNvPr id="4" name="Picture 3" descr="final_test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486400" cy="2926080"/>
          </a:xfrm>
          <a:prstGeom prst="rect">
            <a:avLst/>
          </a:prstGeom>
        </p:spPr>
      </p:pic>
      <p:pic>
        <p:nvPicPr>
          <p:cNvPr id="5" name="Picture 4" descr="final_test_gai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53035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800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3D3E"/>
                </a:solidFill>
                <a:latin typeface="Microsoft YaHei"/>
              </a:defRPr>
            </a:pPr>
            <a:r>
              <a:t>测试集平均：DFF 104.09 um → 模型 57.31 um，平均改善 32.44%。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7. P10 代表样品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宽谷粗糙平底 + 柏林噪声 + 高分辨率 960x540</a:t>
            </a:r>
          </a:p>
        </p:txBody>
      </p:sp>
      <p:pic>
        <p:nvPicPr>
          <p:cNvPr id="4" name="Picture 3" descr="00_highres_comparis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62940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83023"/>
                </a:solidFill>
                <a:latin typeface="Microsoft YaHei"/>
              </a:defRPr>
            </a:pPr>
            <a:r>
              <a:t>DFF MAE：199.01 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3D3E"/>
                </a:solidFill>
                <a:latin typeface="Microsoft YaHei"/>
              </a:defRPr>
            </a:pPr>
            <a:r>
              <a:t>模型 MAE：92.46 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B87"/>
                </a:solidFill>
                <a:latin typeface="Microsoft YaHei"/>
              </a:defRPr>
            </a:pPr>
            <a:r>
              <a:t>相对改善：53.54%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343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A2E"/>
                </a:solidFill>
                <a:latin typeface="Microsoft YaHei"/>
              </a:defRPr>
            </a:pPr>
            <a:r>
              <a:t>答辩时建议把 P10 作为“算法探索最完整”的主案例。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3D3E"/>
                </a:solidFill>
                <a:latin typeface="Microsoft YaHei"/>
              </a:defRPr>
            </a:pPr>
            <a:r>
              <a:t>8. 结论与边界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9"/>
                </a:solidFill>
                <a:latin typeface="Microsoft YaHei"/>
              </a:defRPr>
            </a:pPr>
            <a:r>
              <a:t>能结项的成果闭环，以及不能过度承诺的地方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411480" cy="329184"/>
          </a:xfrm>
          <a:prstGeom prst="round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4416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A2E"/>
                </a:solidFill>
                <a:latin typeface="Microsoft YaHei"/>
              </a:defRPr>
            </a:pPr>
            <a:r>
              <a:t>真实样品完成 DFF 相对三维重建和缺陷可视化。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411480" cy="329184"/>
          </a:xfrm>
          <a:prstGeom prst="round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5856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A2E"/>
                </a:solidFill>
                <a:latin typeface="Microsoft YaHei"/>
              </a:defRPr>
            </a:pPr>
            <a:r>
              <a:t>眩光/杂散光是后续算法优化的主要机理方向。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411480" cy="329184"/>
          </a:xfrm>
          <a:prstGeom prst="round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7296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A2E"/>
                </a:solidFill>
                <a:latin typeface="Microsoft YaHei"/>
              </a:defRPr>
            </a:pPr>
            <a:r>
              <a:t>P10 与多类型仿真数据验证了学习型校正的可行性。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411480" cy="329184"/>
          </a:xfrm>
          <a:prstGeom prst="round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08736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2A2E"/>
                </a:solidFill>
                <a:latin typeface="Microsoft YaHei"/>
              </a:defRPr>
            </a:pPr>
            <a:r>
              <a:t>仍需真实高度标定，不能声称绝对计量精度或真实工业大规模训练。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